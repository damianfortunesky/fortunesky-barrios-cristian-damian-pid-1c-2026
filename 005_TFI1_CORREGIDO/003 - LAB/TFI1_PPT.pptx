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3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y Restauración de Imágenes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50292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De Vivo  |  Cristian D. Fortunesky Barrios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Imágenes y PLN  ·  IFTS N°24  ·  1C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794760"/>
            <a:ext cx="2560320" cy="914400"/>
          </a:xfrm>
          <a:prstGeom prst="round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794760"/>
            <a:ext cx="2560320" cy="914400"/>
          </a:xfrm>
          <a:prstGeom prst="roundRect">
            <a:avLst/>
          </a:prstGeom>
          <a:solidFill>
            <a:srgbClr val="F4A261">
              <a:alpha val="2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Color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794760"/>
            <a:ext cx="2560320" cy="914400"/>
          </a:xfrm>
          <a:prstGeom prst="roundRect">
            <a:avLst/>
          </a:prstGeom>
          <a:solidFill>
            <a:srgbClr val="2EC4B6">
              <a:alpha val="2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Gráfico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Blanco/Negro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Trabajo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3385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el problema visual principal de cada imagen antes de intervenir.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tres pipelines de mejora: uno por tipo de imagen (cámara oscura, color, B/N).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al menos dos estrategias por caso con evidencia visual y justificación técnica.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703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versión final argumentada y señalar los límites del método.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rector: un pipeline breve y coherente vale más que una cadena larga sin argumento.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Imagen de Cámara Oscura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005840"/>
            <a:ext cx="28346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43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14630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600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¿Oscura?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74520" y="1600200"/>
            <a:ext cx="3840480" cy="475488"/>
          </a:xfrm>
          <a:prstGeom prst="rect">
            <a:avLst/>
          </a:prstGeom>
          <a:solidFill>
            <a:srgbClr val="0F2A40"/>
          </a:solidFill>
          <a:ln/>
        </p:spPr>
      </p:sp>
      <p:sp>
        <p:nvSpPr>
          <p:cNvPr id="9" name="Text 6"/>
          <p:cNvSpPr/>
          <p:nvPr/>
        </p:nvSpPr>
        <p:spPr>
          <a:xfrm>
            <a:off x="1920240" y="1600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Casi toda la imagen en negros/grises oscuros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48840"/>
            <a:ext cx="14630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148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¿Bajo contraste?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74520" y="2148840"/>
            <a:ext cx="3840480" cy="475488"/>
          </a:xfrm>
          <a:prstGeom prst="rect">
            <a:avLst/>
          </a:prstGeom>
          <a:solidFill>
            <a:srgbClr val="0F2A40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21488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Objeto y fondo poco diferenciados, apariencia lavada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697480"/>
            <a:ext cx="14630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697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ruido?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74520" y="2697480"/>
            <a:ext cx="3840480" cy="475488"/>
          </a:xfrm>
          <a:prstGeom prst="rect">
            <a:avLst/>
          </a:prstGeom>
          <a:solidFill>
            <a:srgbClr val="0F2A40"/>
          </a:solidFill>
          <a:ln/>
        </p:spPr>
      </p:sp>
      <p:sp>
        <p:nvSpPr>
          <p:cNvPr id="17" name="Text 14"/>
          <p:cNvSpPr/>
          <p:nvPr/>
        </p:nvSpPr>
        <p:spPr>
          <a:xfrm>
            <a:off x="1920240" y="2697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Granulado visible, especialmente en zonas oscuras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246120"/>
            <a:ext cx="14630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3246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¿Ilum. desigual?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74520" y="3246120"/>
            <a:ext cx="3840480" cy="475488"/>
          </a:xfrm>
          <a:prstGeom prst="rect">
            <a:avLst/>
          </a:prstGeom>
          <a:solidFill>
            <a:srgbClr val="0F2A40"/>
          </a:solidFill>
          <a:ln/>
        </p:spPr>
      </p:sp>
      <p:sp>
        <p:nvSpPr>
          <p:cNvPr id="21" name="Text 18"/>
          <p:cNvSpPr/>
          <p:nvPr/>
        </p:nvSpPr>
        <p:spPr>
          <a:xfrm>
            <a:off x="1920240" y="3246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Luz concentrada en el centro, resto muy oscuro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794760"/>
            <a:ext cx="14630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794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¿Deformación?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74520" y="3794760"/>
            <a:ext cx="3840480" cy="475488"/>
          </a:xfrm>
          <a:prstGeom prst="rect">
            <a:avLst/>
          </a:prstGeom>
          <a:solidFill>
            <a:srgbClr val="0F2A40"/>
          </a:solidFill>
          <a:ln/>
        </p:spPr>
      </p:sp>
      <p:sp>
        <p:nvSpPr>
          <p:cNvPr id="25" name="Text 22"/>
          <p:cNvSpPr/>
          <p:nvPr/>
        </p:nvSpPr>
        <p:spPr>
          <a:xfrm>
            <a:off x="1920240" y="37947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El problema no es la forma sino la oscuridad y desenfoque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del diagnóstico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Brillo medio: 22.68  ·  Contraste (std): 12.53  ·  Ruido estimado: 6.19  ·  Rango dinámico: 57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Pipeline de Mejora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94360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94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ROI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aísla la zona de mayor intensidad usando el canal V del espacio HSV y un umbral por percentil. Sin este paso, el fondo oscuro domina las estadísticas de intensidad e impide medir el contraste real.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594360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14400"/>
            <a:ext cx="594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051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escala de grises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proyección de cámara oscura no aporta información cromática útil. Trabajar en grises reduce ruido de canal, simplifica el pipeline y facilita la comparación de estrategias.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94360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594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suave (clipLimit=1.5)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Ecualización adaptativa con clipLimit bajo para mejorar contraste local de forma moderada. tileGridSize=(8,8) divide la imagen en regiones medianas sin generar cambios artificiales bruscos.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594360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017520"/>
            <a:ext cx="594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3×3 + ajuste brillo/contraste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reduce el granulado resaltado por CLAHE. convertScaleAbs con alpha=1.2 y beta=10 aclara levemente la imagen sin quemar las zonas ya iluminadas.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Comparación de Estrategias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A  (elegida)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→ grises → CLAHE suave → mediana → ajuste brillo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clipLimit=1.5: contraste moderado, no exagera ruido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3×3 reduce granulado resaltado por CLAHE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alpha=1.2, beta=10: aclara sin quemar zonas iluminadas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64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central más distinguible del fondo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 más natural, sin halos ni sobreexposición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B  (descartada)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44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→ grises → equalizeHist → Gaussian blur → sharpening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equalizeHist: ecualización global muy agresiva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140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Exagera ruido, granulado y bandas verticales del fondo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895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iluminadas sobreexpuestas: halos artificiales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64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amplifica los artefactos ya presentes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40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pierde naturalidad, ilegible en zonas oscuras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del método: desenfoque residual permanece, leves bandas verticales, y no se recupera información no capturada por la cámara.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Cámara Oscura — Resultado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40233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imagen muy oscura, brillo medio 22.68/255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DESPUÉS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2336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ROI + CLAHE suave (clip=1.5) + mediana + ajuste brillo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 ·  Imagen de Medio Gráfico Color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051560"/>
            <a:ext cx="31089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de color cálida (luz ambiente amarillenta)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258568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240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y azul/violeta aparecen desaturados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734056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715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contraste general por iluminación indirecta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3209544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31912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Rayaduras blancas localizadas sobre el fondo negro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3685032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6667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frontal: sin deformación geométrica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elegida: tapa de El Eternauta (Oesterheld/Solano López). Colores saturados de referencia permiten evaluar la corrección.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 ·  Comparación de Estrategias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1  (descartada)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espacio HSV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 × 1.4: sube saturación de todos los colores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V × 1.1: leve aumento de brillo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26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tono H no se modifica → dominante cálida persiste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57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más vivos pero con sesgo amarillento sin corregir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2  (elegida)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en espacio LAB + CLAHE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sobre L: mejora contraste sin afectar el color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496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B − 8: reduce exceso de amarillo de la dominante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026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L, A, B actúan por separado → corrección precisa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57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y azul quedan equilibrados entre sí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las rayaduras localizadas requieren inpainting específico, fuera del alcance del pipeline de corrección global.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Medio Gráfico Color — Resultado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40233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dominante cálida, colores desaturados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DESPUÉS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2336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CLAHE en L + corrección canal B (LAB)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 ·  Historieta de Medio Gráfico Blanco/Negro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1051560"/>
            <a:ext cx="338328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43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1371600" cy="512064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6002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783080" y="1600200"/>
            <a:ext cx="3383280" cy="512064"/>
          </a:xfrm>
          <a:prstGeom prst="rect">
            <a:avLst/>
          </a:prstGeom>
          <a:solidFill>
            <a:srgbClr val="0A2018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16002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Mafalda (Quino) fotografiada con luz ambiente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85416"/>
            <a:ext cx="1371600" cy="512064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1854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83080" y="2185416"/>
            <a:ext cx="3383280" cy="512064"/>
          </a:xfrm>
          <a:prstGeom prst="rect">
            <a:avLst/>
          </a:prstGeom>
          <a:solidFill>
            <a:srgbClr val="0A2018"/>
          </a:solidFill>
          <a:ln/>
        </p:spPr>
      </p:sp>
      <p:sp>
        <p:nvSpPr>
          <p:cNvPr id="13" name="Text 10"/>
          <p:cNvSpPr/>
          <p:nvPr/>
        </p:nvSpPr>
        <p:spPr>
          <a:xfrm>
            <a:off x="1828800" y="218541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 en sector inferior izquierdo, pero diferencia tonal tinta/papel se mantiene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770632"/>
            <a:ext cx="1371600" cy="512064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7706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783080" y="2770632"/>
            <a:ext cx="3383280" cy="512064"/>
          </a:xfrm>
          <a:prstGeom prst="rect">
            <a:avLst/>
          </a:prstGeom>
          <a:solidFill>
            <a:srgbClr val="0A2018"/>
          </a:solidFill>
          <a:ln/>
        </p:spPr>
      </p:sp>
      <p:sp>
        <p:nvSpPr>
          <p:cNvPr id="17" name="Text 14"/>
          <p:cNvSpPr/>
          <p:nvPr/>
        </p:nvSpPr>
        <p:spPr>
          <a:xfrm>
            <a:off x="1828800" y="27706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con tono crema (no blanco puro)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355848"/>
            <a:ext cx="1371600" cy="512064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33558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83080" y="3355848"/>
            <a:ext cx="3383280" cy="512064"/>
          </a:xfrm>
          <a:prstGeom prst="rect">
            <a:avLst/>
          </a:prstGeom>
          <a:solidFill>
            <a:srgbClr val="0A2018"/>
          </a:solidFill>
          <a:ln/>
        </p:spPr>
      </p:sp>
      <p:sp>
        <p:nvSpPr>
          <p:cNvPr id="21" name="Text 18"/>
          <p:cNvSpPr/>
          <p:nvPr/>
        </p:nvSpPr>
        <p:spPr>
          <a:xfrm>
            <a:off x="1828800" y="33558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 globos + trazos de dibujo + zonas negras densas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941064"/>
            <a:ext cx="1371600" cy="512064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94106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783080" y="3941064"/>
            <a:ext cx="3383280" cy="512064"/>
          </a:xfrm>
          <a:prstGeom prst="rect">
            <a:avLst/>
          </a:prstGeom>
          <a:solidFill>
            <a:srgbClr val="0A2018"/>
          </a:solidFill>
          <a:ln/>
        </p:spPr>
      </p:sp>
      <p:sp>
        <p:nvSpPr>
          <p:cNvPr id="25" name="Text 22"/>
          <p:cNvSpPr/>
          <p:nvPr/>
        </p:nvSpPr>
        <p:spPr>
          <a:xfrm>
            <a:off x="1828800" y="39410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bimodal clara: pico en oscuros (tinta) y pico en claros (papel)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4709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binarizar la página obteniendo blancos puros y negros nítidos, sin introducir ruido ni textura artificial en las zonas de papel.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 ·  Comparación de Estrategias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1  (elegida)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 (5×5) + Otsu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aprovecha la distribución bimodal del histograma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oscuro = tinta, pico claro = papel crema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Blancos puros, negros limpios, globos perfectamente legibles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sombra inf. izq. no invalida el umbral: diferencia tonal se mantiene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limpio sin textura residual en zonas de papel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2  (descartada)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44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medianBlur (k=3) + adaptiveThreshold (blockSize=71) + Morfología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adaptativo por región local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957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grano visible en zonas de papel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712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no queda blanco puro: textura residual ensucia la lectura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467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blockSize=71 reacciona a la trama del papel crema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221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artefactos que degradan la calidad final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del método: zonas negras densas (pelo, ropa) pierden detalle interno al binarizar. El umbral no distingue negro de trazo de negro de relleno sólido.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Historieta Mafalda — Resultado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40233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sombra en sector inferior izq., papel crema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4B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DESPUÉS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2336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GaussianBlur (5×5) + Otsu — blancos puros, negros limpios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Transversal de los Tres Casos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057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20574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Cámara Oscura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20574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Medio Color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914400"/>
            <a:ext cx="205740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Medio B/N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82296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principal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Subexposición + ruido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cálida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desigual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229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clave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suave (clip=1.5) + Mediana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en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 + Otsu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34056"/>
            <a:ext cx="82296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descartada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equalizeHist global + sharpening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HSV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medianBlur + adaptiveThreshold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92424"/>
            <a:ext cx="8229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en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050792"/>
            <a:ext cx="82296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del método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0604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Desenfoque residual, info no capturada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Rayaduras sin inpainting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negras densas pierden detalle interno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Límites del Método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pipelines resuelven problemas reales con secuencias acotadas (2–4 operaciones), priorizando criterio sobre acumulación de técnicas.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se comparan dos estrategias con evidencia visual, y la elección se justifica con base en el problema diagnosticado.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LAB demostró ser más preciso que HSV para corrección de color porque separa luminosidad y crominancia de forma independiente.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41985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superó a adaptiveThreshold en B/N porque el histograma bimodal de la historieta permite un umbral global limpio. La estrategia adaptativa introdujo textura residual en el papel.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16966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compartido: ningún pipeline puede recuperar información que no fue capturada. Solo se mejora la perceptibilidad de lo que existe.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De Vivo  ·  Cristian D. Fortunesky Barrios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</a:t>
            </a:r>
            <a:r>
              <a:rPr lang="en-US" sz="1500" i="1" dirty="0" err="1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r>
              <a:rPr lang="en-US" sz="15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r>
              <a:rPr lang="en-US" sz="15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IFTS N°24  · 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1359</Words>
  <Application>Microsoft Office PowerPoint</Application>
  <PresentationFormat>Presentación en pantalla (16:9)</PresentationFormat>
  <Paragraphs>185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TFI 1 – Mejora y Restauración de Imágenes</dc:title>
  <dc:subject>PptxGenJS Presentation</dc:subject>
  <dc:creator>Matias De Vivo &amp; Cristian Fortunesky Barrios</dc:creator>
  <cp:lastModifiedBy>Usuario</cp:lastModifiedBy>
  <cp:revision>2</cp:revision>
  <dcterms:created xsi:type="dcterms:W3CDTF">2026-05-11T04:34:24Z</dcterms:created>
  <dcterms:modified xsi:type="dcterms:W3CDTF">2026-05-11T18:22:27Z</dcterms:modified>
</cp:coreProperties>
</file>